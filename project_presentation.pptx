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40D890-B526-F84B-95A7-C258F1621447}" v="930" dt="2026-03-23T09:09:40.318"/>
    <p1510:client id="{B15736CA-DE44-575D-782D-88A950C9C8C2}" v="2" dt="2026-03-22T18:41:39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42AE67-0F34-459A-85AA-394DF036E35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C53CD7-10FC-4A60-A31F-F0E2F309BD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A9DDE3-FB0D-4925-89CB-CE117CB24A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A43653-0AC1-478A-96D8-CF39CF5FE0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C35755-A2D1-4497-BFA5-70AB6AF49F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056B79-2918-4FCA-8F4E-516748C387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A0FE09-7329-4E7B-8800-86E9223B53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AAE2E9-E2E2-45F2-8346-352E8BD8BC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BDD2EC-0CA8-436D-991E-1640C97B63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163BEA-9F7E-4867-8F51-02504098ED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8FF353-AB7D-4899-86AB-8A9BC2060C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D2582D-DF3B-4400-8FF3-BE5D0838A0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949440" y="-1097280"/>
            <a:ext cx="4114440" cy="411444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498080" y="2560320"/>
            <a:ext cx="2559960" cy="2559960"/>
          </a:xfrm>
          <a:prstGeom prst="ellipse">
            <a:avLst/>
          </a:prstGeom>
          <a:solidFill>
            <a:srgbClr val="0891B2">
              <a:alpha val="16000"/>
            </a:srgbClr>
          </a:solidFill>
          <a:ln w="12700">
            <a:solidFill>
              <a:srgbClr val="0891B2">
                <a:alpha val="1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5943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1005840"/>
            <a:ext cx="84121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CryptoBot with Binance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2240280"/>
            <a:ext cx="7131960" cy="28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BAE6FD"/>
                </a:solidFill>
                <a:effectLst/>
                <a:uFillTx/>
                <a:latin typeface="Calibri"/>
                <a:ea typeface="Calibri"/>
              </a:rPr>
              <a:t>Data Pipeline &amp; Machine Learning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BAE6FD"/>
                </a:solidFill>
                <a:effectLst/>
                <a:uFillTx/>
                <a:latin typeface="Calibri"/>
                <a:ea typeface="Calibri"/>
              </a:rPr>
              <a:t>for Cryptocurrency Trading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>
              <a:solidFill>
                <a:srgbClr val="BAE6FD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AE6FD"/>
                </a:solidFill>
                <a:effectLst/>
                <a:uFillTx/>
                <a:latin typeface="Calibri"/>
              </a:rPr>
              <a:t>Team: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AE6FD"/>
                </a:solidFill>
                <a:effectLst/>
                <a:uFillTx/>
                <a:latin typeface="Calibri"/>
              </a:rPr>
              <a:t>Ayoub </a:t>
            </a:r>
            <a:r>
              <a:rPr lang="en-US" sz="1600" b="0" u="none" strike="noStrike" err="1">
                <a:solidFill>
                  <a:srgbClr val="BAE6FD"/>
                </a:solidFill>
                <a:effectLst/>
                <a:uFillTx/>
                <a:latin typeface="Calibri"/>
              </a:rPr>
              <a:t>Barkaoui</a:t>
            </a:r>
            <a:endParaRPr lang="en-US" sz="1600" b="0" u="none" strike="noStrike">
              <a:solidFill>
                <a:srgbClr val="BAE6FD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>
                <a:solidFill>
                  <a:srgbClr val="BAE6FD"/>
                </a:solidFill>
                <a:latin typeface="Calibri"/>
              </a:rPr>
              <a:t>Aniket Kakde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AE6FD"/>
                </a:solidFill>
                <a:effectLst/>
                <a:uFillTx/>
                <a:latin typeface="Calibri"/>
              </a:rPr>
              <a:t>Alex </a:t>
            </a:r>
            <a:r>
              <a:rPr lang="en-US" sz="1600" b="0" u="none" strike="noStrike" err="1">
                <a:solidFill>
                  <a:srgbClr val="BAE6FD"/>
                </a:solidFill>
                <a:effectLst/>
                <a:uFillTx/>
                <a:latin typeface="Calibri"/>
              </a:rPr>
              <a:t>Pajaron</a:t>
            </a:r>
            <a:endParaRPr lang="en-US" sz="1600" b="0" u="none" strike="noStrike">
              <a:solidFill>
                <a:srgbClr val="BAE6FD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AE6FD"/>
                </a:solidFill>
                <a:effectLst/>
                <a:uFillTx/>
                <a:latin typeface="Calibri"/>
              </a:rPr>
              <a:t>Jennifer </a:t>
            </a:r>
            <a:r>
              <a:rPr lang="en-US" sz="1600" b="0" u="none" strike="noStrike" err="1">
                <a:solidFill>
                  <a:srgbClr val="BAE6FD"/>
                </a:solidFill>
                <a:effectLst/>
                <a:uFillTx/>
                <a:latin typeface="Calibri"/>
              </a:rPr>
              <a:t>Bramadas</a:t>
            </a:r>
            <a:endParaRPr lang="en-US" sz="1600" b="0" u="none" strike="noStrike">
              <a:solidFill>
                <a:srgbClr val="BAE6FD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57200" y="3337560"/>
            <a:ext cx="2468520" cy="36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352044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320040" y="84132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320040" y="841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831960" y="8229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831960" y="1115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Context, research question &amp; objectives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320040" y="168264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320040" y="16826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831960" y="16642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Overall Architecture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831960" y="19569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Data pipeline schema &amp; technology choices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320040" y="252360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320040" y="2523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831960" y="25056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Data Collection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831960" y="279792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Binance API ingestion — batch &amp; streaming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320040" y="336492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320040" y="3364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831960" y="33465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Data Modeling &amp; Consumption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831960" y="36392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MongoDB schema &amp; storage strategy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320040" y="420624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320040" y="42062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831960" y="41878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Machine Learning 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831960" y="44805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Feature engineering, Logistic Regression vs SVM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4800600" y="84132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4800600" y="841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5312520" y="8229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API Development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5"/>
          <p:cNvSpPr/>
          <p:nvPr/>
        </p:nvSpPr>
        <p:spPr>
          <a:xfrm>
            <a:off x="5312520" y="1115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err="1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FastAPI</a:t>
            </a: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endpoints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4800600" y="168264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4800600" y="16826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5312520" y="16642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GitOps</a:t>
            </a: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&amp; Flow Orchestration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9"/>
          <p:cNvSpPr/>
          <p:nvPr/>
        </p:nvSpPr>
        <p:spPr>
          <a:xfrm>
            <a:off x="5312520" y="19569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Docker, Github &amp; Cron automation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4800600" y="252360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4800600" y="2523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5312520" y="25056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Dashboard &amp; </a:t>
            </a:r>
            <a:r>
              <a:rPr lang="en-US" sz="1400" b="1" u="none" strike="noStrike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Visualisation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3"/>
          <p:cNvSpPr/>
          <p:nvPr/>
        </p:nvSpPr>
        <p:spPr>
          <a:xfrm>
            <a:off x="5312520" y="279792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Grafana &amp; Streamlit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4"/>
          <p:cNvSpPr/>
          <p:nvPr/>
        </p:nvSpPr>
        <p:spPr>
          <a:xfrm>
            <a:off x="4800600" y="3364920"/>
            <a:ext cx="420120" cy="42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4800600" y="3364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6"/>
          <p:cNvSpPr/>
          <p:nvPr/>
        </p:nvSpPr>
        <p:spPr>
          <a:xfrm>
            <a:off x="5312520" y="33465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Limitations &amp; Conclusion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 — Introduction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274320" y="777240"/>
            <a:ext cx="8595000" cy="1023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475560" y="822960"/>
            <a:ext cx="822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201">
                <a:solidFill>
                  <a:srgbClr val="BAE6FD"/>
                </a:solidFill>
                <a:effectLst/>
                <a:uFillTx/>
                <a:latin typeface="Calibri"/>
                <a:ea typeface="Calibri"/>
              </a:rPr>
              <a:t>Research Question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475560" y="1078920"/>
            <a:ext cx="80463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can an end-to-end system be designed for the collection, storage, modelling and exposure of real-time cryptocurrency trading signals?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274320" y="1920240"/>
            <a:ext cx="420588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274320" y="1920240"/>
            <a:ext cx="54360" cy="1051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38840" y="20116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📈  Market Worth $3T+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438840" y="23227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Bitcoin exceeds 50% of total crypto market cap (2024)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4754880" y="1920240"/>
            <a:ext cx="420588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754880" y="1920240"/>
            <a:ext cx="54360" cy="1051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4919400" y="20116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⚡  24/7 Volatility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919400" y="23227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Daily price swings of 5–15% make manual trading ineffective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274320" y="3200400"/>
            <a:ext cx="420588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274320" y="3200400"/>
            <a:ext cx="54360" cy="1051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438840" y="32918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🤖  70%+ Algorithmic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38840" y="360288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Most major exchange volumes are driven by automated bots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4754880" y="3200400"/>
            <a:ext cx="420588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4754880" y="3200400"/>
            <a:ext cx="54360" cy="1051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4919400" y="32918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🎯  Core Challenge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4919400" y="360288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Reproducible pipeline: ingest → model → expose → visualise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274320" y="438912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Objectives: Collect BTC data via Binance API (real-time + historical)  ·  Store in MongoDB · Train ML model · Expose via REST API  ·  Visualise signals · Containerise 12 services with Docker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 — Overall Architecture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274320" y="345636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Data Source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1993320" y="345636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Message Broker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3712320" y="345636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Storage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5431680" y="345636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ML + API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7150680" y="345636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Dashboards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274320" y="3794760"/>
            <a:ext cx="145800" cy="383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521280" y="3776400"/>
            <a:ext cx="1508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Batch Path: 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2030040" y="3776400"/>
            <a:ext cx="68119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Historical data → periodic REST collection → MongoDB klines_historical → ML training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8"/>
          <p:cNvSpPr/>
          <p:nvPr/>
        </p:nvSpPr>
        <p:spPr>
          <a:xfrm>
            <a:off x="274320" y="4361760"/>
            <a:ext cx="145800" cy="383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521280" y="4343400"/>
            <a:ext cx="1508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Streaming Path: 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2030040" y="4343400"/>
            <a:ext cx="68119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WebSocket live stream → Redpanda broker → klines_streaming → real-time prediction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11520" y="1479960"/>
            <a:ext cx="9143640" cy="2188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 — Data Collection (Binance API)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274320" y="777240"/>
            <a:ext cx="4160160" cy="2771177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274320" y="777240"/>
            <a:ext cx="4160160" cy="456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402480" y="81396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Batch Collection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402480" y="1051560"/>
            <a:ext cx="3977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Service: </a:t>
            </a:r>
            <a:r>
              <a:rPr lang="en-US" sz="850" b="0" i="1" u="none" strike="noStrike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binance</a:t>
            </a:r>
            <a:r>
              <a:rPr lang="en-US" sz="8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-collector</a:t>
            </a:r>
            <a:endParaRPr lang="en-US" sz="850" b="0" i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411660" y="1307158"/>
            <a:ext cx="3958920" cy="22412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Source: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Binance REST API for historical candles.</a:t>
            </a:r>
          </a:p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Purpose: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Build a complete historical dataset for ML training.</a:t>
            </a:r>
          </a:p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Logic: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Detect missing ranges and Fetch only the gaps</a:t>
            </a:r>
          </a:p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Outputs: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Raw files, processed files and MongoDB.</a:t>
            </a:r>
          </a:p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Scheduling: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One Run at the startup, then hourly via Internal Cron Job.</a:t>
            </a:r>
          </a:p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Automation: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Triggers model retraining when new historical data is inserted.</a:t>
            </a: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4709160" y="777240"/>
            <a:ext cx="4160160" cy="2771177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4709160" y="777240"/>
            <a:ext cx="4160160" cy="456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4837320" y="81396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Streaming Collection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4837320" y="1051560"/>
            <a:ext cx="3977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Services: </a:t>
            </a:r>
            <a:r>
              <a:rPr lang="en-US" sz="8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stream-producer / stream-consumer</a:t>
            </a:r>
            <a:endParaRPr lang="en-US" sz="850" b="0" i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274320" y="4983480"/>
            <a:ext cx="8595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Preprocessing pipeline: type conversion  ·  null handling  ·  deduplication  ·  schema validation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E02DF735-24DF-72B2-75FA-361286EA1810}"/>
              </a:ext>
            </a:extLst>
          </p:cNvPr>
          <p:cNvSpPr/>
          <p:nvPr/>
        </p:nvSpPr>
        <p:spPr>
          <a:xfrm>
            <a:off x="4809780" y="1270800"/>
            <a:ext cx="3958920" cy="22776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Source: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Binance WebSocket for live closed candles.</a:t>
            </a:r>
          </a:p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Purpose: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Keep the system fresh for monitoring and recent market views.</a:t>
            </a:r>
          </a:p>
          <a:p>
            <a:pPr marL="343080" indent="-343080" algn="just">
              <a:lnSpc>
                <a:spcPct val="2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Flow: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WebSocket -&gt; </a:t>
            </a:r>
            <a:r>
              <a:rPr lang="en-US" sz="900" err="1">
                <a:solidFill>
                  <a:srgbClr val="000000"/>
                </a:solidFill>
                <a:latin typeface="Arial"/>
              </a:rPr>
              <a:t>Redpanda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-&gt; Consumer -&gt; MongoDB.</a:t>
            </a: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Resilience: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If MongoDB is temporarily unavailable, messages stay buffered in </a:t>
            </a:r>
            <a:r>
              <a:rPr lang="en-US" sz="900" err="1">
                <a:solidFill>
                  <a:srgbClr val="000000"/>
                </a:solidFill>
                <a:latin typeface="Arial"/>
              </a:rPr>
              <a:t>Redpanda</a:t>
            </a:r>
            <a:r>
              <a:rPr lang="en-US" sz="90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900" b="1">
                <a:solidFill>
                  <a:srgbClr val="000000"/>
                </a:solidFill>
                <a:latin typeface="Arial"/>
              </a:rPr>
              <a:t>Usage: </a:t>
            </a:r>
            <a:r>
              <a:rPr lang="en-US" sz="900">
                <a:solidFill>
                  <a:srgbClr val="000000"/>
                </a:solidFill>
                <a:latin typeface="Arial"/>
              </a:rPr>
              <a:t>Grafana reads recent data through the API layer, which uses the streaming collection for freshness.</a:t>
            </a: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B40601BE-CDA0-3E6F-BA47-07A870FD6E18}"/>
              </a:ext>
            </a:extLst>
          </p:cNvPr>
          <p:cNvSpPr/>
          <p:nvPr/>
        </p:nvSpPr>
        <p:spPr>
          <a:xfrm>
            <a:off x="274320" y="3804017"/>
            <a:ext cx="8595000" cy="11521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latin typeface="Arial"/>
              </a:rPr>
              <a:t>Schema validation and type conversion are applied before storage.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latin typeface="Arial"/>
              </a:rPr>
              <a:t>Duplicate prevention is handled through idempotent keys and unique indexes.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latin typeface="Arial"/>
              </a:rPr>
              <a:t>Historical and streaming data are stored separately for different use cases.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000000"/>
                </a:solidFill>
                <a:latin typeface="Arial"/>
              </a:rPr>
              <a:t>Result: </a:t>
            </a:r>
            <a:r>
              <a:rPr lang="en-US" sz="1100">
                <a:solidFill>
                  <a:srgbClr val="000000"/>
                </a:solidFill>
                <a:latin typeface="Arial"/>
              </a:rPr>
              <a:t>a reliable collection layer supporting both ML training and live dashboards.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6E197095-D3A8-553F-6A5C-0B57FB33BB25}"/>
              </a:ext>
            </a:extLst>
          </p:cNvPr>
          <p:cNvSpPr/>
          <p:nvPr/>
        </p:nvSpPr>
        <p:spPr>
          <a:xfrm>
            <a:off x="274320" y="3548417"/>
            <a:ext cx="8595000" cy="255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DB66902-D1B0-404F-2D33-D7A50C3C0CBF}"/>
              </a:ext>
            </a:extLst>
          </p:cNvPr>
          <p:cNvSpPr/>
          <p:nvPr/>
        </p:nvSpPr>
        <p:spPr>
          <a:xfrm>
            <a:off x="393300" y="3557352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Quality and 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eliability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 — Data Modeling &amp; Consumption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274320" y="777240"/>
            <a:ext cx="4160160" cy="411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274320" y="777240"/>
            <a:ext cx="4160160" cy="438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420480" y="795600"/>
            <a:ext cx="3840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MongoDB — Two Collections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438840" y="1298520"/>
            <a:ext cx="3840120" cy="29232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48640" y="12985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klines_historical</a:t>
            </a:r>
            <a:r>
              <a:rPr lang="en-US" sz="11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(ML Training)</a:t>
            </a:r>
          </a:p>
        </p:txBody>
      </p:sp>
      <p:sp>
        <p:nvSpPr>
          <p:cNvPr id="115" name="Text 7"/>
          <p:cNvSpPr/>
          <p:nvPr/>
        </p:nvSpPr>
        <p:spPr>
          <a:xfrm>
            <a:off x="502920" y="1645920"/>
            <a:ext cx="3748680" cy="106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>
                <a:solidFill>
                  <a:srgbClr val="000000"/>
                </a:solidFill>
                <a:latin typeface="Arial"/>
              </a:rPr>
              <a:t>Stores validated historical candles collected by the batch pipeline.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>
                <a:solidFill>
                  <a:srgbClr val="000000"/>
                </a:solidFill>
                <a:latin typeface="Arial"/>
              </a:rPr>
              <a:t>Main source for model training and the current prediction workflow.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>
                <a:solidFill>
                  <a:srgbClr val="000000"/>
                </a:solidFill>
                <a:latin typeface="Arial"/>
              </a:rPr>
              <a:t>Idempotent </a:t>
            </a:r>
            <a:r>
              <a:rPr lang="en-US" sz="900" err="1">
                <a:solidFill>
                  <a:srgbClr val="000000"/>
                </a:solidFill>
                <a:latin typeface="Arial"/>
              </a:rPr>
              <a:t>upserts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ensured by the unique key: `symbol + interval + </a:t>
            </a:r>
            <a:r>
              <a:rPr lang="en-US" sz="900" err="1">
                <a:solidFill>
                  <a:srgbClr val="000000"/>
                </a:solidFill>
                <a:latin typeface="Arial"/>
              </a:rPr>
              <a:t>open_time_ms</a:t>
            </a:r>
            <a:r>
              <a:rPr lang="en-US" sz="900">
                <a:solidFill>
                  <a:srgbClr val="000000"/>
                </a:solidFill>
                <a:latin typeface="Arial"/>
              </a:rPr>
              <a:t>`.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>
                <a:solidFill>
                  <a:srgbClr val="000000"/>
                </a:solidFill>
                <a:latin typeface="Arial"/>
              </a:rPr>
              <a:t>Optimized for large historical reads and scheduled retraining.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438840" y="2926080"/>
            <a:ext cx="3840120" cy="29232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548640" y="29260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klines_streaming</a:t>
            </a:r>
            <a:r>
              <a:rPr lang="en-US" sz="11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(Real-time Feed)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457200" y="3218400"/>
            <a:ext cx="3748680" cy="9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>
                <a:solidFill>
                  <a:srgbClr val="000000"/>
                </a:solidFill>
                <a:latin typeface="Arial"/>
              </a:rPr>
              <a:t>Stores near-real-time candles written by the </a:t>
            </a:r>
            <a:r>
              <a:rPr lang="en-US" sz="900" err="1">
                <a:solidFill>
                  <a:srgbClr val="000000"/>
                </a:solidFill>
                <a:latin typeface="Arial"/>
              </a:rPr>
              <a:t>Redpanda</a:t>
            </a:r>
            <a:r>
              <a:rPr lang="en-US" sz="900">
                <a:solidFill>
                  <a:srgbClr val="000000"/>
                </a:solidFill>
                <a:latin typeface="Arial"/>
              </a:rPr>
              <a:t> consumer.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>
                <a:solidFill>
                  <a:srgbClr val="000000"/>
                </a:solidFill>
                <a:latin typeface="Arial"/>
              </a:rPr>
              <a:t>Includes streaming-specific time fields such as `</a:t>
            </a:r>
            <a:r>
              <a:rPr lang="en-US" sz="900" err="1">
                <a:solidFill>
                  <a:srgbClr val="000000"/>
                </a:solidFill>
                <a:latin typeface="Arial"/>
              </a:rPr>
              <a:t>event_time</a:t>
            </a:r>
            <a:r>
              <a:rPr lang="en-US" sz="900">
                <a:solidFill>
                  <a:srgbClr val="000000"/>
                </a:solidFill>
                <a:latin typeface="Arial"/>
              </a:rPr>
              <a:t>` and `timestamp`.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>
                <a:solidFill>
                  <a:srgbClr val="000000"/>
                </a:solidFill>
                <a:latin typeface="Arial"/>
              </a:rPr>
              <a:t>Optimized for continuous writes and recent-candle queries.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>
                <a:solidFill>
                  <a:srgbClr val="000000"/>
                </a:solidFill>
                <a:latin typeface="Arial"/>
              </a:rPr>
              <a:t>Used to provide fresher market views, especially for Grafana.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4709160" y="777240"/>
            <a:ext cx="4160160" cy="411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6"/>
          <p:cNvSpPr/>
          <p:nvPr/>
        </p:nvSpPr>
        <p:spPr>
          <a:xfrm>
            <a:off x="4709160" y="777240"/>
            <a:ext cx="4160160" cy="438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4846320" y="795600"/>
            <a:ext cx="3840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Consumption Interfaces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8"/>
          <p:cNvSpPr/>
          <p:nvPr/>
        </p:nvSpPr>
        <p:spPr>
          <a:xfrm>
            <a:off x="4846320" y="1325880"/>
            <a:ext cx="3840120" cy="29232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4956120" y="13258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Streamlit Dashboard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0"/>
          <p:cNvSpPr/>
          <p:nvPr/>
        </p:nvSpPr>
        <p:spPr>
          <a:xfrm>
            <a:off x="4846320" y="1691640"/>
            <a:ext cx="3840120" cy="83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1050">
                <a:solidFill>
                  <a:srgbClr val="1E293B"/>
                </a:solidFill>
                <a:ea typeface="Calibri"/>
              </a:rPr>
              <a:t>Business-facing dashboard for ML signals, confidence, and recent predictions</a:t>
            </a:r>
          </a:p>
        </p:txBody>
      </p:sp>
      <p:sp>
        <p:nvSpPr>
          <p:cNvPr id="131" name="Shape 23"/>
          <p:cNvSpPr/>
          <p:nvPr/>
        </p:nvSpPr>
        <p:spPr>
          <a:xfrm>
            <a:off x="4846320" y="3017520"/>
            <a:ext cx="3840120" cy="29232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4"/>
          <p:cNvSpPr/>
          <p:nvPr/>
        </p:nvSpPr>
        <p:spPr>
          <a:xfrm>
            <a:off x="4956120" y="30175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Grafana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5"/>
          <p:cNvSpPr/>
          <p:nvPr/>
        </p:nvSpPr>
        <p:spPr>
          <a:xfrm>
            <a:off x="4846320" y="33832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1050">
                <a:solidFill>
                  <a:srgbClr val="1E293B"/>
                </a:solidFill>
                <a:ea typeface="Calibri"/>
              </a:rPr>
              <a:t>Monitoring dashboard for market visualization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6"/>
          <p:cNvSpPr/>
          <p:nvPr/>
        </p:nvSpPr>
        <p:spPr>
          <a:xfrm>
            <a:off x="4846320" y="37306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1050">
                <a:solidFill>
                  <a:srgbClr val="1E293B"/>
                </a:solidFill>
                <a:ea typeface="Calibri"/>
              </a:rPr>
              <a:t>Reads data through the `main` API, which merges historical and streaming MongoDB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8"/>
          <p:cNvSpPr/>
          <p:nvPr/>
        </p:nvSpPr>
        <p:spPr>
          <a:xfrm>
            <a:off x="365760" y="442584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Why MongoDB? Flexible schema · No migrations · Composite index for fast queries · Async Python driver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 — Machine Learning Model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274320" y="777240"/>
            <a:ext cx="859500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57200" y="77724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Objective: Binary classification — predict whether BTC price will go UP or DOWN on the next 5-min candle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274320" y="146304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Feature Engineering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228600" y="26431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274320" y="32551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228600" y="44719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Target: binary price direction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4663440" y="1463040"/>
            <a:ext cx="1965600" cy="356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4663440" y="1463040"/>
            <a:ext cx="1965600" cy="475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4754880" y="1481400"/>
            <a:ext cx="1755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Logistic Regression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4754880" y="1737360"/>
            <a:ext cx="1755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✅  RETAINED MODEL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4754880" y="2030040"/>
            <a:ext cx="177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Accuracy: 74.34%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4754880" y="2541960"/>
            <a:ext cx="177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AUC score: 0.8173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4754880" y="3054240"/>
            <a:ext cx="177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Training time: &lt;1 sec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4754880" y="3657960"/>
            <a:ext cx="177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Hourly auto-retrain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6812280" y="1463040"/>
            <a:ext cx="1965600" cy="356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1"/>
          <p:cNvSpPr/>
          <p:nvPr/>
        </p:nvSpPr>
        <p:spPr>
          <a:xfrm>
            <a:off x="6812280" y="1463040"/>
            <a:ext cx="1965600" cy="475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2"/>
          <p:cNvSpPr/>
          <p:nvPr/>
        </p:nvSpPr>
        <p:spPr>
          <a:xfrm>
            <a:off x="6903720" y="1481400"/>
            <a:ext cx="1755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SVM (Comparison)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3"/>
          <p:cNvSpPr/>
          <p:nvPr/>
        </p:nvSpPr>
        <p:spPr>
          <a:xfrm>
            <a:off x="6903720" y="1737360"/>
            <a:ext cx="1755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❌  Not selected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4"/>
          <p:cNvSpPr/>
          <p:nvPr/>
        </p:nvSpPr>
        <p:spPr>
          <a:xfrm>
            <a:off x="6903720" y="2030040"/>
            <a:ext cx="177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Accuracy: 74.18%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6903720" y="2541960"/>
            <a:ext cx="177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AUC score: 0.82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6"/>
          <p:cNvSpPr/>
          <p:nvPr/>
        </p:nvSpPr>
        <p:spPr>
          <a:xfrm>
            <a:off x="6903720" y="3054240"/>
            <a:ext cx="177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Training: several minutes (&gt;50min)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8"/>
          <p:cNvSpPr/>
          <p:nvPr/>
        </p:nvSpPr>
        <p:spPr>
          <a:xfrm>
            <a:off x="6913080" y="3657960"/>
            <a:ext cx="1773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Not justified for prod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9"/>
          <p:cNvSpPr/>
          <p:nvPr/>
        </p:nvSpPr>
        <p:spPr>
          <a:xfrm>
            <a:off x="274320" y="4919400"/>
            <a:ext cx="8595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Chronological train/test split to prevent data leakage  ·  StandardScaler normalisation  ·  232,000+ observations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161"/>
          <p:cNvPicPr/>
          <p:nvPr/>
        </p:nvPicPr>
        <p:blipFill>
          <a:blip r:embed="rId3"/>
          <a:stretch/>
        </p:blipFill>
        <p:spPr>
          <a:xfrm>
            <a:off x="339840" y="1755360"/>
            <a:ext cx="4232160" cy="271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 — API Development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274320" y="786240"/>
            <a:ext cx="8595000" cy="529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457200" y="78624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AE6FD"/>
                </a:solidFill>
                <a:effectLst/>
                <a:uFillTx/>
                <a:latin typeface="Calibri"/>
                <a:ea typeface="Calibri"/>
              </a:rPr>
              <a:t>Framework: FastAPI  ·  Async engine  ·  Pydantic validation  ·  Auto-docs via Swagger UI  ·  Built-in monitoring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274320" y="1907100"/>
            <a:ext cx="85950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274320" y="1907100"/>
            <a:ext cx="804240" cy="731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274320" y="1907100"/>
            <a:ext cx="804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1188720" y="19801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/predict/logistic/{symbol}?limit=N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1188720" y="229122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274320" y="2766780"/>
            <a:ext cx="85950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274320" y="2766780"/>
            <a:ext cx="804240" cy="731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274320" y="2766780"/>
            <a:ext cx="804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1188720" y="283986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/predict/logistic/retrain/admin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1188720" y="31509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274320" y="3626100"/>
            <a:ext cx="85950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274320" y="3626100"/>
            <a:ext cx="804240" cy="731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274320" y="3626100"/>
            <a:ext cx="804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1188720" y="369954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/status/check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1188720" y="401022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5"/>
          <p:cNvSpPr/>
          <p:nvPr/>
        </p:nvSpPr>
        <p:spPr>
          <a:xfrm>
            <a:off x="402480" y="4937760"/>
            <a:ext cx="2468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6"/>
          <p:cNvSpPr/>
          <p:nvPr/>
        </p:nvSpPr>
        <p:spPr>
          <a:xfrm>
            <a:off x="402480" y="518472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 — GitOps &amp; Flow Orchestration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274320" y="78624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 Docker Services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9"/>
          <p:cNvSpPr/>
          <p:nvPr/>
        </p:nvSpPr>
        <p:spPr>
          <a:xfrm>
            <a:off x="4663440" y="78624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Orchestration Highlights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40"/>
          <p:cNvSpPr/>
          <p:nvPr/>
        </p:nvSpPr>
        <p:spPr>
          <a:xfrm>
            <a:off x="4800600" y="1180725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1"/>
          <p:cNvSpPr/>
          <p:nvPr/>
        </p:nvSpPr>
        <p:spPr>
          <a:xfrm>
            <a:off x="4937760" y="1235805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⏱️  Cron Automation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2"/>
          <p:cNvSpPr/>
          <p:nvPr/>
        </p:nvSpPr>
        <p:spPr>
          <a:xfrm>
            <a:off x="4937760" y="1528125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Hourly data collection + Automatic model retraining cycle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3"/>
          <p:cNvSpPr/>
          <p:nvPr/>
        </p:nvSpPr>
        <p:spPr>
          <a:xfrm>
            <a:off x="4800600" y="1948965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4"/>
          <p:cNvSpPr/>
          <p:nvPr/>
        </p:nvSpPr>
        <p:spPr>
          <a:xfrm>
            <a:off x="4937760" y="2003685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🐳  Docker Compose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5"/>
          <p:cNvSpPr/>
          <p:nvPr/>
        </p:nvSpPr>
        <p:spPr>
          <a:xfrm>
            <a:off x="4937760" y="2296365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Single docker-</a:t>
            </a:r>
            <a:r>
              <a:rPr lang="en-US" sz="1000" b="0" u="none" strike="noStrike" err="1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compose.yml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orchestrates all services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9"/>
          <p:cNvSpPr/>
          <p:nvPr/>
        </p:nvSpPr>
        <p:spPr>
          <a:xfrm>
            <a:off x="4800600" y="270684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0"/>
          <p:cNvSpPr/>
          <p:nvPr/>
        </p:nvSpPr>
        <p:spPr>
          <a:xfrm>
            <a:off x="4937760" y="276156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🐙  GitHub / GitOps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1"/>
          <p:cNvSpPr/>
          <p:nvPr/>
        </p:nvSpPr>
        <p:spPr>
          <a:xfrm>
            <a:off x="4937760" y="305424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Version control · CI pipeline · docker image generation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2"/>
          <p:cNvSpPr/>
          <p:nvPr/>
        </p:nvSpPr>
        <p:spPr>
          <a:xfrm>
            <a:off x="4800600" y="347508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3"/>
          <p:cNvSpPr/>
          <p:nvPr/>
        </p:nvSpPr>
        <p:spPr>
          <a:xfrm>
            <a:off x="4937760" y="352980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🔄  Persistent Volumes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4"/>
          <p:cNvSpPr/>
          <p:nvPr/>
        </p:nvSpPr>
        <p:spPr>
          <a:xfrm>
            <a:off x="4937760" y="382248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Model weights &amp; data survive container restarts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Picture 207"/>
          <p:cNvPicPr/>
          <p:nvPr/>
        </p:nvPicPr>
        <p:blipFill>
          <a:blip r:embed="rId3"/>
          <a:stretch/>
        </p:blipFill>
        <p:spPr>
          <a:xfrm>
            <a:off x="0" y="1143000"/>
            <a:ext cx="4663440" cy="365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Shape 46">
            <a:extLst>
              <a:ext uri="{FF2B5EF4-FFF2-40B4-BE49-F238E27FC236}">
                <a16:creationId xmlns:a16="http://schemas.microsoft.com/office/drawing/2014/main" id="{91D93EFE-DC65-40E6-24F2-568114503D6E}"/>
              </a:ext>
            </a:extLst>
          </p:cNvPr>
          <p:cNvSpPr/>
          <p:nvPr/>
        </p:nvSpPr>
        <p:spPr>
          <a:xfrm>
            <a:off x="4800600" y="4243320"/>
            <a:ext cx="416016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47">
            <a:extLst>
              <a:ext uri="{FF2B5EF4-FFF2-40B4-BE49-F238E27FC236}">
                <a16:creationId xmlns:a16="http://schemas.microsoft.com/office/drawing/2014/main" id="{8B1DAD51-6D53-D486-1039-16FF827736F2}"/>
              </a:ext>
            </a:extLst>
          </p:cNvPr>
          <p:cNvSpPr/>
          <p:nvPr/>
        </p:nvSpPr>
        <p:spPr>
          <a:xfrm>
            <a:off x="4937760" y="429840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🚀  Startup Script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48">
            <a:extLst>
              <a:ext uri="{FF2B5EF4-FFF2-40B4-BE49-F238E27FC236}">
                <a16:creationId xmlns:a16="http://schemas.microsoft.com/office/drawing/2014/main" id="{98EE28E0-B421-085F-5C8B-EF8E6EBC42CA}"/>
              </a:ext>
            </a:extLst>
          </p:cNvPr>
          <p:cNvSpPr/>
          <p:nvPr/>
        </p:nvSpPr>
        <p:spPr>
          <a:xfrm>
            <a:off x="4937760" y="459108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docker-up-</a:t>
            </a:r>
            <a:r>
              <a:rPr lang="en-US" sz="1000" b="0" u="none" strike="noStrike" err="1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clean.sh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: ordered boot with </a:t>
            </a:r>
            <a:r>
              <a:rPr lang="en-US" sz="1000" b="0" u="none" strike="noStrike" err="1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healthchecks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&amp; model </a:t>
            </a:r>
            <a:r>
              <a:rPr lang="en-US" sz="1000" b="0" u="none" strike="noStrike" err="1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 — Dashboard &amp; </a:t>
            </a:r>
            <a:r>
              <a:rPr lang="en-US" sz="2100" b="1" u="none" strike="noStrike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Visualisation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"/>
          <p:cNvSpPr/>
          <p:nvPr/>
        </p:nvSpPr>
        <p:spPr>
          <a:xfrm>
            <a:off x="261935" y="3245581"/>
            <a:ext cx="8620130" cy="1486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7025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/>
                </a:solidFill>
                <a:latin typeface="Arial"/>
              </a:rPr>
              <a:t>Real-time monitoring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>
              <a:solidFill>
                <a:srgbClr val="000000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/>
                </a:solidFill>
                <a:latin typeface="Arial"/>
              </a:rPr>
              <a:t>Queries `main` </a:t>
            </a:r>
            <a:r>
              <a:rPr lang="en-US" sz="1050" err="1">
                <a:solidFill>
                  <a:srgbClr val="000000"/>
                </a:solidFill>
                <a:latin typeface="Arial"/>
              </a:rPr>
              <a:t>FastAPI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 via `/</a:t>
            </a:r>
            <a:r>
              <a:rPr lang="en-US" sz="1050" err="1">
                <a:solidFill>
                  <a:srgbClr val="000000"/>
                </a:solidFill>
                <a:latin typeface="Arial"/>
              </a:rPr>
              <a:t>grafana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/*`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>
              <a:solidFill>
                <a:srgbClr val="000000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/>
                </a:solidFill>
                <a:latin typeface="Arial"/>
              </a:rPr>
              <a:t>Visualizes merged historical + streaming candles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>
              <a:solidFill>
                <a:srgbClr val="000000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/>
                </a:solidFill>
                <a:latin typeface="Arial"/>
              </a:rPr>
              <a:t>Good for price, volume, and trade-count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>
              <a:solidFill>
                <a:srgbClr val="000000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0000"/>
                </a:solidFill>
                <a:latin typeface="Arial"/>
              </a:rPr>
              <a:t>Provisioned as code for reproducibility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261935" y="2816280"/>
            <a:ext cx="8631720" cy="429300"/>
          </a:xfrm>
          <a:prstGeom prst="rect">
            <a:avLst/>
          </a:prstGeom>
          <a:solidFill>
            <a:srgbClr val="E97025"/>
          </a:solidFill>
          <a:ln w="12700">
            <a:solidFill>
              <a:srgbClr val="E970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454033" y="291690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Grafana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530280" y="3983911"/>
            <a:ext cx="39499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420480" y="2212920"/>
            <a:ext cx="39499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420480" y="2816280"/>
            <a:ext cx="39499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255960" y="786240"/>
            <a:ext cx="8650080" cy="1704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2"/>
          <p:cNvSpPr/>
          <p:nvPr/>
        </p:nvSpPr>
        <p:spPr>
          <a:xfrm>
            <a:off x="255960" y="796965"/>
            <a:ext cx="8668080" cy="365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502920" y="78588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Streamlit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000" b="1" u="none" strike="noStrike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Dashbaord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4864680" y="115200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ML Signal Dashboard — BTC/USDT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420480" y="1887356"/>
            <a:ext cx="8394120" cy="251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KPI cards: signal · confidence · latest price · candle time</a:t>
            </a: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1200">
                <a:solidFill>
                  <a:srgbClr val="1E293B"/>
                </a:solidFill>
                <a:ea typeface="Calibri"/>
              </a:rPr>
              <a:t>Candlestick chart + UP/DOWN signal histogram</a:t>
            </a: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1200">
                <a:solidFill>
                  <a:srgbClr val="1E293B"/>
                </a:solidFill>
                <a:ea typeface="Calibri"/>
              </a:rPr>
              <a:t>Confidence % chart with 50% decision threshold line</a:t>
            </a: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1200">
                <a:solidFill>
                  <a:srgbClr val="1E293B"/>
                </a:solidFill>
                <a:ea typeface="Calibri"/>
              </a:rPr>
              <a:t>Predictions table showing last N candles</a:t>
            </a: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r>
              <a:rPr lang="en-US" sz="1200">
                <a:solidFill>
                  <a:srgbClr val="1E293B"/>
                </a:solidFill>
                <a:ea typeface="Calibri"/>
              </a:rPr>
              <a:t>Auto-refresh every 30s · adjustable symbol &amp; window</a:t>
            </a:r>
            <a:endParaRPr lang="en-US" sz="1200">
              <a:solidFill>
                <a:srgbClr val="000000"/>
              </a:solidFill>
              <a:latin typeface="Arial"/>
            </a:endParaRP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endParaRPr lang="en-US" sz="1200">
              <a:solidFill>
                <a:srgbClr val="000000"/>
              </a:solidFill>
              <a:latin typeface="Arial"/>
            </a:endParaRP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endParaRPr lang="en-US" sz="1200">
              <a:solidFill>
                <a:srgbClr val="000000"/>
              </a:solidFill>
              <a:latin typeface="Arial"/>
            </a:endParaRPr>
          </a:p>
          <a:p>
            <a:pPr marL="343080" indent="-343080">
              <a:buClr>
                <a:srgbClr val="1E293B"/>
              </a:buClr>
              <a:buFont typeface="Symbol" charset="2"/>
              <a:buChar char=""/>
            </a:pPr>
            <a:endParaRPr lang="en-US" sz="120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4864680" y="2212920"/>
            <a:ext cx="39499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7"/>
          <p:cNvSpPr/>
          <p:nvPr/>
        </p:nvSpPr>
        <p:spPr>
          <a:xfrm>
            <a:off x="4864680" y="2816280"/>
            <a:ext cx="39499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4864680" y="3420000"/>
            <a:ext cx="39499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9"/>
          <p:cNvSpPr/>
          <p:nvPr/>
        </p:nvSpPr>
        <p:spPr>
          <a:xfrm>
            <a:off x="4864680" y="4023360"/>
            <a:ext cx="39499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365760" y="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09 — Limitations &amp; Conclusion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274320" y="777240"/>
            <a:ext cx="4160160" cy="246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274320" y="777240"/>
            <a:ext cx="4160160" cy="42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411480" y="7956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⚠️  Limitations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411480" y="128016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Model accuracy ~52% — near-random (noisy market)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411480" y="166428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</a:t>
            </a:r>
            <a:r>
              <a:rPr lang="en-US" sz="1100" b="0" u="none" strike="noStrike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backtesting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or Sharpe ratio evaluation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411480" y="204840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BTC/USDT only — no multi-asset portfolio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411480" y="243216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live trade execution (signals only)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411480" y="281628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Logistic Regression may miss complex patterns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4709160" y="777240"/>
            <a:ext cx="4160160" cy="246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4709160" y="777240"/>
            <a:ext cx="4160160" cy="42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4846320" y="7956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🚀  Future Improvements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4846320" y="128016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LSTM / Transformer deep learning models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4846320" y="166428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Multi-asset portfolio support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4846320" y="204840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Full backtesting framework + Sharpe ratio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4846320" y="243216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Risk management &amp; position sizing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4846320" y="281628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Kubernetes for production-scale deployment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8"/>
          <p:cNvSpPr/>
          <p:nvPr/>
        </p:nvSpPr>
        <p:spPr>
          <a:xfrm>
            <a:off x="274320" y="3383280"/>
            <a:ext cx="8595000" cy="1691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274320" y="3383280"/>
            <a:ext cx="91080" cy="1691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0"/>
          <p:cNvSpPr/>
          <p:nvPr/>
        </p:nvSpPr>
        <p:spPr>
          <a:xfrm>
            <a:off x="502920" y="34380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BAE6FD"/>
                </a:solidFill>
                <a:effectLst/>
                <a:uFillTx/>
                <a:latin typeface="Calibri"/>
                <a:ea typeface="Calibri"/>
              </a:rPr>
              <a:t>✅  Complete end-to-end automated pipeline — from Binance raw data to live trading signals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502920" y="38314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✅  12-service Docker stack · reproducible · deployable with a single command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502920" y="42246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✅  Real ML in production · retrained hourly on 232K+ observations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3"/>
          <p:cNvSpPr/>
          <p:nvPr/>
        </p:nvSpPr>
        <p:spPr>
          <a:xfrm>
            <a:off x="502920" y="461772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✅  Full skill coverage: Data Engineering · ML · API Dev · DevOps · Orchestration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Box 252"/>
          <p:cNvSpPr txBox="1"/>
          <p:nvPr/>
        </p:nvSpPr>
        <p:spPr>
          <a:xfrm>
            <a:off x="1371599" y="2485080"/>
            <a:ext cx="3364173" cy="367878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Questions and Answers ?</a:t>
            </a:r>
          </a:p>
        </p:txBody>
      </p:sp>
      <p:sp>
        <p:nvSpPr>
          <p:cNvPr id="254" name="Shape 7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1094</Words>
  <Application>Microsoft Macintosh PowerPoint</Application>
  <PresentationFormat>On-screen Show (16:9)</PresentationFormat>
  <Paragraphs>188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CryptoBot with Binance — Project Report</dc:title>
  <dc:subject>PptxGenJS Presentation</dc:subject>
  <dc:creator>PptxGenJS</dc:creator>
  <dc:description/>
  <cp:lastModifiedBy>Aniket Kakde</cp:lastModifiedBy>
  <cp:revision>1</cp:revision>
  <dcterms:created xsi:type="dcterms:W3CDTF">2026-03-22T11:58:58Z</dcterms:created>
  <dcterms:modified xsi:type="dcterms:W3CDTF">2026-03-23T11:09:03Z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